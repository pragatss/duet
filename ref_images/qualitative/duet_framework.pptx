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 b="def" i="def"/>
      <a:tcStyle>
        <a:tcBdr/>
        <a:fill>
          <a:solidFill>
            <a:srgbClr val="E8EBF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 b="def" i="def"/>
      <a:tcStyle>
        <a:tcBdr/>
        <a:fill>
          <a:solidFill>
            <a:srgbClr val="F0F0F0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 b="def" i="def"/>
      <a:tcStyle>
        <a:tcBdr/>
        <a:fill>
          <a:solidFill>
            <a:srgbClr val="EBF1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" name="Shape 18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Calibri"/>
      </a:defRPr>
    </a:lvl1pPr>
    <a:lvl2pPr indent="228600" latinLnBrk="0">
      <a:defRPr sz="1200">
        <a:latin typeface="+mn-lt"/>
        <a:ea typeface="+mn-ea"/>
        <a:cs typeface="+mn-cs"/>
        <a:sym typeface="Calibri"/>
      </a:defRPr>
    </a:lvl2pPr>
    <a:lvl3pPr indent="457200" latinLnBrk="0">
      <a:defRPr sz="1200">
        <a:latin typeface="+mn-lt"/>
        <a:ea typeface="+mn-ea"/>
        <a:cs typeface="+mn-cs"/>
        <a:sym typeface="Calibri"/>
      </a:defRPr>
    </a:lvl3pPr>
    <a:lvl4pPr indent="685800" latinLnBrk="0">
      <a:defRPr sz="1200">
        <a:latin typeface="+mn-lt"/>
        <a:ea typeface="+mn-ea"/>
        <a:cs typeface="+mn-cs"/>
        <a:sym typeface="Calibri"/>
      </a:defRPr>
    </a:lvl4pPr>
    <a:lvl5pPr indent="914400" latinLnBrk="0">
      <a:defRPr sz="1200">
        <a:latin typeface="+mn-lt"/>
        <a:ea typeface="+mn-ea"/>
        <a:cs typeface="+mn-cs"/>
        <a:sym typeface="Calibri"/>
      </a:defRPr>
    </a:lvl5pPr>
    <a:lvl6pPr indent="1143000" latinLnBrk="0">
      <a:defRPr sz="1200">
        <a:latin typeface="+mn-lt"/>
        <a:ea typeface="+mn-ea"/>
        <a:cs typeface="+mn-cs"/>
        <a:sym typeface="Calibri"/>
      </a:defRPr>
    </a:lvl6pPr>
    <a:lvl7pPr indent="1371600" latinLnBrk="0">
      <a:defRPr sz="1200">
        <a:latin typeface="+mn-lt"/>
        <a:ea typeface="+mn-ea"/>
        <a:cs typeface="+mn-cs"/>
        <a:sym typeface="Calibri"/>
      </a:defRPr>
    </a:lvl7pPr>
    <a:lvl8pPr indent="1600200" latinLnBrk="0">
      <a:defRPr sz="1200">
        <a:latin typeface="+mn-lt"/>
        <a:ea typeface="+mn-ea"/>
        <a:cs typeface="+mn-cs"/>
        <a:sym typeface="Calibri"/>
      </a:defRPr>
    </a:lvl8pPr>
    <a:lvl9pPr indent="18288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Shape 147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48" name="Shape 148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Figure: Overview of DUET. Replace each hatched placeholder with a real image via right-click &gt; Change Picture; the black frame behind it stays. Host network (grey) unchanged; RSR (green) refines logits Z to stride rho/2 using a finer backbone map F, residual scaled by gamma initialised to 0. BPM (blue) weights the per-pixel loss by a boundary-band map w before OHEM selection; training only.</a:t>
            </a:r>
          </a:p>
        </p:txBody>
      </p:sp>
    </p:spTree>
  </p:cSld>
  <p:clrMapOvr>
    <a:masterClrMapping/>
  </p:clrMapOvr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609600" y="92074"/>
            <a:ext cx="10972800" cy="15081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609600" y="1600200"/>
            <a:ext cx="1097280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7.png"/><Relationship Id="rId10" Type="http://schemas.openxmlformats.org/officeDocument/2006/relationships/image" Target="../media/image8.png"/><Relationship Id="rId11" Type="http://schemas.openxmlformats.org/officeDocument/2006/relationships/image" Target="../media/image9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50"/>
          <p:cNvSpPr/>
          <p:nvPr/>
        </p:nvSpPr>
        <p:spPr>
          <a:xfrm>
            <a:off x="2235708" y="3927347"/>
            <a:ext cx="9532620" cy="2263141"/>
          </a:xfrm>
          <a:prstGeom prst="rect">
            <a:avLst/>
          </a:prstGeom>
          <a:solidFill>
            <a:srgbClr val="D6E6F0"/>
          </a:solidFill>
          <a:ln w="19050">
            <a:solidFill>
              <a:srgbClr val="7A96A8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1" name="Shape 21"/>
          <p:cNvSpPr/>
          <p:nvPr/>
        </p:nvSpPr>
        <p:spPr>
          <a:xfrm>
            <a:off x="3680151" y="4524565"/>
            <a:ext cx="2523672" cy="1068706"/>
          </a:xfrm>
          <a:prstGeom prst="rect">
            <a:avLst/>
          </a:prstGeom>
          <a:solidFill>
            <a:srgbClr val="DAECD6"/>
          </a:solidFill>
          <a:ln w="19050">
            <a:solidFill>
              <a:srgbClr val="7F9A78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2" name="Shape 0"/>
          <p:cNvSpPr/>
          <p:nvPr/>
        </p:nvSpPr>
        <p:spPr>
          <a:xfrm>
            <a:off x="2235707" y="429767"/>
            <a:ext cx="7063741" cy="3223262"/>
          </a:xfrm>
          <a:prstGeom prst="rect">
            <a:avLst/>
          </a:prstGeom>
          <a:solidFill>
            <a:srgbClr val="E1E1E1"/>
          </a:solidFill>
          <a:ln w="19050">
            <a:solidFill>
              <a:srgbClr val="8C8C8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3" name="Text 1"/>
          <p:cNvSpPr txBox="1"/>
          <p:nvPr/>
        </p:nvSpPr>
        <p:spPr>
          <a:xfrm>
            <a:off x="2269998" y="3389564"/>
            <a:ext cx="2948941" cy="1840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12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Host network (e.g., STDC-Seg)</a:t>
            </a:r>
          </a:p>
        </p:txBody>
      </p:sp>
      <p:sp>
        <p:nvSpPr>
          <p:cNvPr id="24" name="Shape 2"/>
          <p:cNvSpPr/>
          <p:nvPr/>
        </p:nvSpPr>
        <p:spPr>
          <a:xfrm>
            <a:off x="365759" y="1405889"/>
            <a:ext cx="1613918" cy="1476757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pic>
        <p:nvPicPr>
          <p:cNvPr id="25" name="Image 0" descr="Image 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84047" y="1424177"/>
            <a:ext cx="1577341" cy="1440182"/>
          </a:xfrm>
          <a:prstGeom prst="rect">
            <a:avLst/>
          </a:prstGeom>
          <a:ln w="12700">
            <a:miter lim="400000"/>
          </a:ln>
        </p:spPr>
      </p:pic>
      <p:sp>
        <p:nvSpPr>
          <p:cNvPr id="26" name="Text 3"/>
          <p:cNvSpPr txBox="1"/>
          <p:nvPr/>
        </p:nvSpPr>
        <p:spPr>
          <a:xfrm>
            <a:off x="-27433" y="1200069"/>
            <a:ext cx="2400301" cy="1464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sz="11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Input image </a:t>
            </a:r>
            <a:r>
              <a:rPr i="1"/>
              <a:t>I</a:t>
            </a:r>
          </a:p>
        </p:txBody>
      </p:sp>
      <p:grpSp>
        <p:nvGrpSpPr>
          <p:cNvPr id="29" name="Text 4"/>
          <p:cNvGrpSpPr/>
          <p:nvPr/>
        </p:nvGrpSpPr>
        <p:grpSpPr>
          <a:xfrm>
            <a:off x="2441448" y="1218438"/>
            <a:ext cx="1028701" cy="1783080"/>
            <a:chOff x="0" y="0"/>
            <a:chExt cx="1028700" cy="1783079"/>
          </a:xfrm>
        </p:grpSpPr>
        <p:sp>
          <p:nvSpPr>
            <p:cNvPr id="27" name="Shape"/>
            <p:cNvSpPr/>
            <p:nvPr/>
          </p:nvSpPr>
          <p:spPr>
            <a:xfrm>
              <a:off x="0" y="-1"/>
              <a:ext cx="1028701" cy="178308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0" y="0"/>
                  </a:lnTo>
                  <a:lnTo>
                    <a:pt x="21600" y="6646"/>
                  </a:lnTo>
                  <a:lnTo>
                    <a:pt x="21600" y="14954"/>
                  </a:lnTo>
                  <a:close/>
                </a:path>
              </a:pathLst>
            </a:custGeom>
            <a:solidFill>
              <a:srgbClr val="FFFFFF"/>
            </a:solidFill>
            <a:ln w="222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400"/>
              </a:pPr>
            </a:p>
          </p:txBody>
        </p:sp>
        <p:sp>
          <p:nvSpPr>
            <p:cNvPr id="28" name="Encoder"/>
            <p:cNvSpPr txBox="1"/>
            <p:nvPr/>
          </p:nvSpPr>
          <p:spPr>
            <a:xfrm>
              <a:off x="11112" y="793716"/>
              <a:ext cx="1006476" cy="19564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sz="1400">
                  <a:latin typeface="Times New Roman"/>
                  <a:ea typeface="Times New Roman"/>
                  <a:cs typeface="Times New Roman"/>
                  <a:sym typeface="Times New Roman"/>
                </a:defRPr>
              </a:lvl1pPr>
            </a:lstStyle>
            <a:p>
              <a:pPr/>
              <a:r>
                <a:t>Encoder</a:t>
              </a:r>
            </a:p>
          </p:txBody>
        </p:sp>
      </p:grpSp>
      <p:sp>
        <p:nvSpPr>
          <p:cNvPr id="30" name="Shape 5"/>
          <p:cNvSpPr/>
          <p:nvPr/>
        </p:nvSpPr>
        <p:spPr>
          <a:xfrm>
            <a:off x="1961388" y="2144267"/>
            <a:ext cx="480061" cy="1"/>
          </a:xfrm>
          <a:prstGeom prst="line">
            <a:avLst/>
          </a:prstGeom>
          <a:ln w="22225">
            <a:solidFill>
              <a:srgbClr val="9C7814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31" name="Shape 6"/>
          <p:cNvSpPr/>
          <p:nvPr/>
        </p:nvSpPr>
        <p:spPr>
          <a:xfrm>
            <a:off x="3794759" y="857250"/>
            <a:ext cx="722377" cy="653796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pic>
        <p:nvPicPr>
          <p:cNvPr id="32" name="Image 1" descr="Image 1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3813047" y="875538"/>
            <a:ext cx="685801" cy="617221"/>
          </a:xfrm>
          <a:prstGeom prst="rect">
            <a:avLst/>
          </a:prstGeom>
          <a:ln w="12700">
            <a:miter lim="400000"/>
          </a:ln>
        </p:spPr>
      </p:pic>
      <p:sp>
        <p:nvSpPr>
          <p:cNvPr id="33" name="Text 7"/>
          <p:cNvSpPr txBox="1"/>
          <p:nvPr/>
        </p:nvSpPr>
        <p:spPr>
          <a:xfrm>
            <a:off x="3401567" y="651429"/>
            <a:ext cx="1508761" cy="1464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1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context feat.</a:t>
            </a:r>
          </a:p>
        </p:txBody>
      </p:sp>
      <p:sp>
        <p:nvSpPr>
          <p:cNvPr id="34" name="Shape 8"/>
          <p:cNvSpPr/>
          <p:nvPr/>
        </p:nvSpPr>
        <p:spPr>
          <a:xfrm>
            <a:off x="3794759" y="2674620"/>
            <a:ext cx="722377" cy="653797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pic>
        <p:nvPicPr>
          <p:cNvPr id="35" name="Image 2" descr="Image 2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3813047" y="2692907"/>
            <a:ext cx="685801" cy="617221"/>
          </a:xfrm>
          <a:prstGeom prst="rect">
            <a:avLst/>
          </a:prstGeom>
          <a:ln w="12700">
            <a:miter lim="400000"/>
          </a:ln>
        </p:spPr>
      </p:pic>
      <p:sp>
        <p:nvSpPr>
          <p:cNvPr id="36" name="Text 9"/>
          <p:cNvSpPr txBox="1"/>
          <p:nvPr/>
        </p:nvSpPr>
        <p:spPr>
          <a:xfrm>
            <a:off x="3401567" y="2468799"/>
            <a:ext cx="1508761" cy="1464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i="1" sz="11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F</a:t>
            </a:r>
            <a:r>
              <a:rPr i="0"/>
              <a:t> (stride </a:t>
            </a:r>
            <a:r>
              <a:t>ρ</a:t>
            </a:r>
            <a:r>
              <a:rPr i="0"/>
              <a:t>/2)</a:t>
            </a:r>
          </a:p>
        </p:txBody>
      </p:sp>
      <p:sp>
        <p:nvSpPr>
          <p:cNvPr id="37" name="Shape 10"/>
          <p:cNvSpPr/>
          <p:nvPr/>
        </p:nvSpPr>
        <p:spPr>
          <a:xfrm>
            <a:off x="3470147" y="1938527"/>
            <a:ext cx="150877" cy="1"/>
          </a:xfrm>
          <a:prstGeom prst="line">
            <a:avLst/>
          </a:prstGeom>
          <a:ln w="22225">
            <a:solidFill>
              <a:srgbClr val="282828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8" name="Shape 11"/>
          <p:cNvSpPr/>
          <p:nvPr/>
        </p:nvSpPr>
        <p:spPr>
          <a:xfrm flipV="1">
            <a:off x="3621023" y="1184147"/>
            <a:ext cx="1" cy="754382"/>
          </a:xfrm>
          <a:prstGeom prst="line">
            <a:avLst/>
          </a:prstGeom>
          <a:ln w="22225">
            <a:solidFill>
              <a:srgbClr val="282828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9" name="Shape 12"/>
          <p:cNvSpPr/>
          <p:nvPr/>
        </p:nvSpPr>
        <p:spPr>
          <a:xfrm>
            <a:off x="3621023" y="1184147"/>
            <a:ext cx="192025" cy="1"/>
          </a:xfrm>
          <a:prstGeom prst="line">
            <a:avLst/>
          </a:prstGeom>
          <a:ln w="22225">
            <a:solidFill>
              <a:srgbClr val="282828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40" name="Shape 13"/>
          <p:cNvSpPr/>
          <p:nvPr/>
        </p:nvSpPr>
        <p:spPr>
          <a:xfrm>
            <a:off x="3470147" y="2281427"/>
            <a:ext cx="150877" cy="1"/>
          </a:xfrm>
          <a:prstGeom prst="line">
            <a:avLst/>
          </a:prstGeom>
          <a:ln w="22225">
            <a:solidFill>
              <a:srgbClr val="282828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1" name="Shape 14"/>
          <p:cNvSpPr/>
          <p:nvPr/>
        </p:nvSpPr>
        <p:spPr>
          <a:xfrm>
            <a:off x="3621023" y="2281427"/>
            <a:ext cx="1" cy="720091"/>
          </a:xfrm>
          <a:prstGeom prst="line">
            <a:avLst/>
          </a:prstGeom>
          <a:ln w="22225">
            <a:solidFill>
              <a:srgbClr val="282828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2" name="Shape 15"/>
          <p:cNvSpPr/>
          <p:nvPr/>
        </p:nvSpPr>
        <p:spPr>
          <a:xfrm>
            <a:off x="3621023" y="3001517"/>
            <a:ext cx="192025" cy="1"/>
          </a:xfrm>
          <a:prstGeom prst="line">
            <a:avLst/>
          </a:prstGeom>
          <a:ln w="22225">
            <a:solidFill>
              <a:srgbClr val="282828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grpSp>
        <p:nvGrpSpPr>
          <p:cNvPr id="45" name="Text 16"/>
          <p:cNvGrpSpPr/>
          <p:nvPr/>
        </p:nvGrpSpPr>
        <p:grpSpPr>
          <a:xfrm>
            <a:off x="4807458" y="772667"/>
            <a:ext cx="754381" cy="822962"/>
            <a:chOff x="0" y="0"/>
            <a:chExt cx="754380" cy="822960"/>
          </a:xfrm>
        </p:grpSpPr>
        <p:sp>
          <p:nvSpPr>
            <p:cNvPr id="43" name="Shape"/>
            <p:cNvSpPr/>
            <p:nvPr/>
          </p:nvSpPr>
          <p:spPr>
            <a:xfrm>
              <a:off x="-1" y="-1"/>
              <a:ext cx="754382" cy="82296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15300"/>
                  </a:moveTo>
                  <a:lnTo>
                    <a:pt x="0" y="6300"/>
                  </a:lnTo>
                  <a:lnTo>
                    <a:pt x="21600" y="0"/>
                  </a:lnTo>
                  <a:lnTo>
                    <a:pt x="21600" y="21600"/>
                  </a:lnTo>
                  <a:close/>
                </a:path>
              </a:pathLst>
            </a:custGeom>
            <a:solidFill>
              <a:srgbClr val="FFFFFF"/>
            </a:solidFill>
            <a:ln w="222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100"/>
              </a:pPr>
            </a:p>
          </p:txBody>
        </p:sp>
        <p:sp>
          <p:nvSpPr>
            <p:cNvPr id="44" name="Decoder"/>
            <p:cNvSpPr txBox="1"/>
            <p:nvPr/>
          </p:nvSpPr>
          <p:spPr>
            <a:xfrm>
              <a:off x="11112" y="338247"/>
              <a:ext cx="732156" cy="14646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sz="1100">
                  <a:latin typeface="Times New Roman"/>
                  <a:ea typeface="Times New Roman"/>
                  <a:cs typeface="Times New Roman"/>
                  <a:sym typeface="Times New Roman"/>
                </a:defRPr>
              </a:lvl1pPr>
            </a:lstStyle>
            <a:p>
              <a:pPr/>
              <a:r>
                <a:t>Decoder</a:t>
              </a:r>
            </a:p>
          </p:txBody>
        </p:sp>
      </p:grpSp>
      <p:sp>
        <p:nvSpPr>
          <p:cNvPr id="46" name="Shape 17"/>
          <p:cNvSpPr/>
          <p:nvPr/>
        </p:nvSpPr>
        <p:spPr>
          <a:xfrm>
            <a:off x="4498847" y="1184147"/>
            <a:ext cx="308611" cy="1"/>
          </a:xfrm>
          <a:prstGeom prst="line">
            <a:avLst/>
          </a:prstGeom>
          <a:ln w="22225">
            <a:solidFill>
              <a:srgbClr val="282828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47" name="Shape 18"/>
          <p:cNvSpPr/>
          <p:nvPr/>
        </p:nvSpPr>
        <p:spPr>
          <a:xfrm>
            <a:off x="5852159" y="857250"/>
            <a:ext cx="722377" cy="653796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pic>
        <p:nvPicPr>
          <p:cNvPr id="48" name="Image 3" descr="Image 3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5870447" y="875538"/>
            <a:ext cx="685801" cy="617221"/>
          </a:xfrm>
          <a:prstGeom prst="rect">
            <a:avLst/>
          </a:prstGeom>
          <a:ln w="12700">
            <a:miter lim="400000"/>
          </a:ln>
        </p:spPr>
      </p:pic>
      <p:sp>
        <p:nvSpPr>
          <p:cNvPr id="49" name="Text 19"/>
          <p:cNvSpPr txBox="1"/>
          <p:nvPr/>
        </p:nvSpPr>
        <p:spPr>
          <a:xfrm>
            <a:off x="5458967" y="651429"/>
            <a:ext cx="1508761" cy="1464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i="1" sz="11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Z</a:t>
            </a:r>
            <a:r>
              <a:rPr i="0"/>
              <a:t> (stride </a:t>
            </a:r>
            <a:r>
              <a:t>ρ</a:t>
            </a:r>
            <a:r>
              <a:rPr i="0"/>
              <a:t>)</a:t>
            </a:r>
          </a:p>
        </p:txBody>
      </p:sp>
      <p:sp>
        <p:nvSpPr>
          <p:cNvPr id="50" name="Shape 20"/>
          <p:cNvSpPr/>
          <p:nvPr/>
        </p:nvSpPr>
        <p:spPr>
          <a:xfrm>
            <a:off x="5561838" y="1184147"/>
            <a:ext cx="308611" cy="1"/>
          </a:xfrm>
          <a:prstGeom prst="line">
            <a:avLst/>
          </a:prstGeom>
          <a:ln w="22225">
            <a:solidFill>
              <a:srgbClr val="282828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51" name="Shape 21"/>
          <p:cNvSpPr/>
          <p:nvPr/>
        </p:nvSpPr>
        <p:spPr>
          <a:xfrm>
            <a:off x="4773167" y="1938527"/>
            <a:ext cx="4389121" cy="1577342"/>
          </a:xfrm>
          <a:prstGeom prst="rect">
            <a:avLst/>
          </a:prstGeom>
          <a:solidFill>
            <a:srgbClr val="DAECD6"/>
          </a:solidFill>
          <a:ln w="19050">
            <a:solidFill>
              <a:srgbClr val="7F9A78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2" name="Text 22"/>
          <p:cNvSpPr txBox="1"/>
          <p:nvPr/>
        </p:nvSpPr>
        <p:spPr>
          <a:xfrm>
            <a:off x="4807458" y="2036745"/>
            <a:ext cx="1508761" cy="1464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RSR (Sec. III-B)</a:t>
            </a:r>
          </a:p>
        </p:txBody>
      </p:sp>
      <p:grpSp>
        <p:nvGrpSpPr>
          <p:cNvPr id="55" name="Text 23"/>
          <p:cNvGrpSpPr/>
          <p:nvPr/>
        </p:nvGrpSpPr>
        <p:grpSpPr>
          <a:xfrm>
            <a:off x="5698997" y="2284857"/>
            <a:ext cx="1028701" cy="308611"/>
            <a:chOff x="0" y="0"/>
            <a:chExt cx="1028700" cy="308610"/>
          </a:xfrm>
        </p:grpSpPr>
        <p:sp>
          <p:nvSpPr>
            <p:cNvPr id="53" name="Rectangle"/>
            <p:cNvSpPr/>
            <p:nvPr/>
          </p:nvSpPr>
          <p:spPr>
            <a:xfrm>
              <a:off x="0" y="-1"/>
              <a:ext cx="1028700" cy="308612"/>
            </a:xfrm>
            <a:prstGeom prst="rect">
              <a:avLst/>
            </a:prstGeom>
            <a:solidFill>
              <a:srgbClr val="FFFFFF"/>
            </a:solidFill>
            <a:ln w="1587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100"/>
              </a:pPr>
            </a:p>
          </p:txBody>
        </p:sp>
        <p:sp>
          <p:nvSpPr>
            <p:cNvPr id="54" name="bilinear ×2"/>
            <p:cNvSpPr txBox="1"/>
            <p:nvPr/>
          </p:nvSpPr>
          <p:spPr>
            <a:xfrm>
              <a:off x="7937" y="81072"/>
              <a:ext cx="1012826" cy="14646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sz="1100">
                  <a:latin typeface="Times New Roman"/>
                  <a:ea typeface="Times New Roman"/>
                  <a:cs typeface="Times New Roman"/>
                  <a:sym typeface="Times New Roman"/>
                </a:defRPr>
              </a:lvl1pPr>
            </a:lstStyle>
            <a:p>
              <a:pPr/>
              <a:r>
                <a:t>bilinear ×2</a:t>
              </a:r>
            </a:p>
          </p:txBody>
        </p:sp>
      </p:grpSp>
      <p:grpSp>
        <p:nvGrpSpPr>
          <p:cNvPr id="58" name="Text 24"/>
          <p:cNvGrpSpPr/>
          <p:nvPr/>
        </p:nvGrpSpPr>
        <p:grpSpPr>
          <a:xfrm>
            <a:off x="4910328" y="2788920"/>
            <a:ext cx="891540" cy="425197"/>
            <a:chOff x="0" y="0"/>
            <a:chExt cx="891538" cy="425195"/>
          </a:xfrm>
        </p:grpSpPr>
        <p:sp>
          <p:nvSpPr>
            <p:cNvPr id="56" name="Rectangle"/>
            <p:cNvSpPr/>
            <p:nvPr/>
          </p:nvSpPr>
          <p:spPr>
            <a:xfrm>
              <a:off x="0" y="0"/>
              <a:ext cx="891539" cy="425196"/>
            </a:xfrm>
            <a:prstGeom prst="rect">
              <a:avLst/>
            </a:prstGeom>
            <a:solidFill>
              <a:srgbClr val="FFFFFF"/>
            </a:solidFill>
            <a:ln w="1587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100"/>
              </a:pPr>
            </a:p>
          </p:txBody>
        </p:sp>
        <p:sp>
          <p:nvSpPr>
            <p:cNvPr id="57" name="ConvBNReLU…"/>
            <p:cNvSpPr txBox="1"/>
            <p:nvPr/>
          </p:nvSpPr>
          <p:spPr>
            <a:xfrm>
              <a:off x="7937" y="63165"/>
              <a:ext cx="875665" cy="29886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/>
            <a:p>
              <a:pPr algn="ctr">
                <a:defRPr sz="1100"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  <a:r>
                <a:t>ConvBNReLU</a:t>
              </a:r>
            </a:p>
            <a:p>
              <a:pPr algn="ctr">
                <a:defRPr sz="1100"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  <a:r>
                <a:t>3×3</a:t>
              </a:r>
            </a:p>
          </p:txBody>
        </p:sp>
      </p:grpSp>
      <p:grpSp>
        <p:nvGrpSpPr>
          <p:cNvPr id="61" name="Text 25"/>
          <p:cNvGrpSpPr/>
          <p:nvPr/>
        </p:nvGrpSpPr>
        <p:grpSpPr>
          <a:xfrm>
            <a:off x="6069329" y="2857499"/>
            <a:ext cx="288037" cy="288038"/>
            <a:chOff x="0" y="0"/>
            <a:chExt cx="288036" cy="288036"/>
          </a:xfrm>
        </p:grpSpPr>
        <p:sp>
          <p:nvSpPr>
            <p:cNvPr id="59" name="Circle"/>
            <p:cNvSpPr/>
            <p:nvPr/>
          </p:nvSpPr>
          <p:spPr>
            <a:xfrm>
              <a:off x="-1" y="-1"/>
              <a:ext cx="288038" cy="288038"/>
            </a:xfrm>
            <a:prstGeom prst="ellipse">
              <a:avLst/>
            </a:prstGeom>
            <a:solidFill>
              <a:srgbClr val="FFFFFF"/>
            </a:solidFill>
            <a:ln w="1587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200"/>
              </a:pPr>
            </a:p>
          </p:txBody>
        </p:sp>
        <p:sp>
          <p:nvSpPr>
            <p:cNvPr id="60" name="c"/>
            <p:cNvSpPr txBox="1"/>
            <p:nvPr/>
          </p:nvSpPr>
          <p:spPr>
            <a:xfrm>
              <a:off x="50119" y="52005"/>
              <a:ext cx="187798" cy="18402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sz="1200">
                  <a:latin typeface="Times New Roman"/>
                  <a:ea typeface="Times New Roman"/>
                  <a:cs typeface="Times New Roman"/>
                  <a:sym typeface="Times New Roman"/>
                </a:defRPr>
              </a:lvl1pPr>
            </a:lstStyle>
            <a:p>
              <a:pPr/>
              <a:r>
                <a:t>c</a:t>
              </a:r>
            </a:p>
          </p:txBody>
        </p:sp>
      </p:grpSp>
      <p:grpSp>
        <p:nvGrpSpPr>
          <p:cNvPr id="64" name="Text 26"/>
          <p:cNvGrpSpPr/>
          <p:nvPr/>
        </p:nvGrpSpPr>
        <p:grpSpPr>
          <a:xfrm>
            <a:off x="6556247" y="2788920"/>
            <a:ext cx="1440181" cy="425197"/>
            <a:chOff x="0" y="0"/>
            <a:chExt cx="1440180" cy="425195"/>
          </a:xfrm>
        </p:grpSpPr>
        <p:sp>
          <p:nvSpPr>
            <p:cNvPr id="62" name="Rectangle"/>
            <p:cNvSpPr/>
            <p:nvPr/>
          </p:nvSpPr>
          <p:spPr>
            <a:xfrm>
              <a:off x="-1" y="0"/>
              <a:ext cx="1440182" cy="425196"/>
            </a:xfrm>
            <a:prstGeom prst="rect">
              <a:avLst/>
            </a:prstGeom>
            <a:solidFill>
              <a:srgbClr val="FFFFFF"/>
            </a:solidFill>
            <a:ln w="1587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100"/>
              </a:pPr>
            </a:p>
          </p:txBody>
        </p:sp>
        <p:sp>
          <p:nvSpPr>
            <p:cNvPr id="63" name="ConvBNReLU 3×3…"/>
            <p:cNvSpPr txBox="1"/>
            <p:nvPr/>
          </p:nvSpPr>
          <p:spPr>
            <a:xfrm>
              <a:off x="7937" y="63165"/>
              <a:ext cx="1424306" cy="29886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/>
            <a:p>
              <a:pPr algn="ctr">
                <a:defRPr sz="1100"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  <a:r>
                <a:t>ConvBNReLU 3×3</a:t>
              </a:r>
            </a:p>
            <a:p>
              <a:pPr algn="ctr">
                <a:defRPr sz="1100"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  <a:r>
                <a:t>Conv 1×1</a:t>
              </a:r>
            </a:p>
          </p:txBody>
        </p:sp>
      </p:grpSp>
      <p:grpSp>
        <p:nvGrpSpPr>
          <p:cNvPr id="67" name="Text 27"/>
          <p:cNvGrpSpPr/>
          <p:nvPr/>
        </p:nvGrpSpPr>
        <p:grpSpPr>
          <a:xfrm>
            <a:off x="8229599" y="2857499"/>
            <a:ext cx="288038" cy="288038"/>
            <a:chOff x="0" y="0"/>
            <a:chExt cx="288036" cy="288036"/>
          </a:xfrm>
        </p:grpSpPr>
        <p:sp>
          <p:nvSpPr>
            <p:cNvPr id="65" name="Circle"/>
            <p:cNvSpPr/>
            <p:nvPr/>
          </p:nvSpPr>
          <p:spPr>
            <a:xfrm>
              <a:off x="-1" y="-1"/>
              <a:ext cx="288038" cy="288038"/>
            </a:xfrm>
            <a:prstGeom prst="ellipse">
              <a:avLst/>
            </a:prstGeom>
            <a:solidFill>
              <a:srgbClr val="FFFFFF"/>
            </a:solidFill>
            <a:ln w="1587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200"/>
              </a:pPr>
            </a:p>
          </p:txBody>
        </p:sp>
        <p:sp>
          <p:nvSpPr>
            <p:cNvPr id="66" name="×"/>
            <p:cNvSpPr txBox="1"/>
            <p:nvPr/>
          </p:nvSpPr>
          <p:spPr>
            <a:xfrm>
              <a:off x="50119" y="52005"/>
              <a:ext cx="187798" cy="18402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sz="1200">
                  <a:latin typeface="Times New Roman"/>
                  <a:ea typeface="Times New Roman"/>
                  <a:cs typeface="Times New Roman"/>
                  <a:sym typeface="Times New Roman"/>
                </a:defRPr>
              </a:lvl1pPr>
            </a:lstStyle>
            <a:p>
              <a:pPr/>
              <a:r>
                <a:t>×</a:t>
              </a:r>
            </a:p>
          </p:txBody>
        </p:sp>
      </p:grpSp>
      <p:sp>
        <p:nvSpPr>
          <p:cNvPr id="68" name="Text 28"/>
          <p:cNvSpPr txBox="1"/>
          <p:nvPr/>
        </p:nvSpPr>
        <p:spPr>
          <a:xfrm>
            <a:off x="8545068" y="2928285"/>
            <a:ext cx="548641" cy="1464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i="1" sz="11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γ</a:t>
            </a:r>
            <a:r>
              <a:rPr i="0"/>
              <a:t> ← 0</a:t>
            </a:r>
          </a:p>
        </p:txBody>
      </p:sp>
      <p:grpSp>
        <p:nvGrpSpPr>
          <p:cNvPr id="71" name="Text 29"/>
          <p:cNvGrpSpPr/>
          <p:nvPr/>
        </p:nvGrpSpPr>
        <p:grpSpPr>
          <a:xfrm>
            <a:off x="8229599" y="2295144"/>
            <a:ext cx="288038" cy="288037"/>
            <a:chOff x="0" y="0"/>
            <a:chExt cx="288036" cy="288036"/>
          </a:xfrm>
        </p:grpSpPr>
        <p:sp>
          <p:nvSpPr>
            <p:cNvPr id="69" name="Circle"/>
            <p:cNvSpPr/>
            <p:nvPr/>
          </p:nvSpPr>
          <p:spPr>
            <a:xfrm>
              <a:off x="-1" y="-1"/>
              <a:ext cx="288038" cy="288038"/>
            </a:xfrm>
            <a:prstGeom prst="ellipse">
              <a:avLst/>
            </a:prstGeom>
            <a:solidFill>
              <a:srgbClr val="FFFFFF"/>
            </a:solidFill>
            <a:ln w="1587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200"/>
              </a:pPr>
            </a:p>
          </p:txBody>
        </p:sp>
        <p:sp>
          <p:nvSpPr>
            <p:cNvPr id="70" name="+"/>
            <p:cNvSpPr txBox="1"/>
            <p:nvPr/>
          </p:nvSpPr>
          <p:spPr>
            <a:xfrm>
              <a:off x="50119" y="52005"/>
              <a:ext cx="187798" cy="18402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sz="1200">
                  <a:latin typeface="Times New Roman"/>
                  <a:ea typeface="Times New Roman"/>
                  <a:cs typeface="Times New Roman"/>
                  <a:sym typeface="Times New Roman"/>
                </a:defRPr>
              </a:lvl1pPr>
            </a:lstStyle>
            <a:p>
              <a:pPr/>
              <a:r>
                <a:t>+</a:t>
              </a:r>
            </a:p>
          </p:txBody>
        </p:sp>
      </p:grpSp>
      <p:sp>
        <p:nvSpPr>
          <p:cNvPr id="72" name="Shape 30"/>
          <p:cNvSpPr/>
          <p:nvPr/>
        </p:nvSpPr>
        <p:spPr>
          <a:xfrm>
            <a:off x="6213347" y="1492757"/>
            <a:ext cx="1" cy="792101"/>
          </a:xfrm>
          <a:prstGeom prst="line">
            <a:avLst/>
          </a:prstGeom>
          <a:ln w="22225">
            <a:solidFill>
              <a:srgbClr val="282828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73" name="Shape 31"/>
          <p:cNvSpPr/>
          <p:nvPr/>
        </p:nvSpPr>
        <p:spPr>
          <a:xfrm>
            <a:off x="4498847" y="3001517"/>
            <a:ext cx="411481" cy="1"/>
          </a:xfrm>
          <a:prstGeom prst="line">
            <a:avLst/>
          </a:prstGeom>
          <a:ln w="22225">
            <a:solidFill>
              <a:srgbClr val="282828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74" name="Shape 32"/>
          <p:cNvSpPr/>
          <p:nvPr/>
        </p:nvSpPr>
        <p:spPr>
          <a:xfrm>
            <a:off x="5801867" y="3001517"/>
            <a:ext cx="267463" cy="1"/>
          </a:xfrm>
          <a:prstGeom prst="line">
            <a:avLst/>
          </a:prstGeom>
          <a:ln w="22225">
            <a:solidFill>
              <a:srgbClr val="282828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75" name="Text 33"/>
          <p:cNvSpPr txBox="1"/>
          <p:nvPr/>
        </p:nvSpPr>
        <p:spPr>
          <a:xfrm>
            <a:off x="5822441" y="2777409"/>
            <a:ext cx="205741" cy="1464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i="1" sz="11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P</a:t>
            </a:r>
          </a:p>
        </p:txBody>
      </p:sp>
      <p:sp>
        <p:nvSpPr>
          <p:cNvPr id="76" name="Shape 34"/>
          <p:cNvSpPr/>
          <p:nvPr/>
        </p:nvSpPr>
        <p:spPr>
          <a:xfrm>
            <a:off x="6213347" y="2593467"/>
            <a:ext cx="1" cy="264034"/>
          </a:xfrm>
          <a:prstGeom prst="line">
            <a:avLst/>
          </a:prstGeom>
          <a:ln w="22225">
            <a:solidFill>
              <a:srgbClr val="282828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77" name="Text 35"/>
          <p:cNvSpPr txBox="1"/>
          <p:nvPr/>
        </p:nvSpPr>
        <p:spPr>
          <a:xfrm>
            <a:off x="6268211" y="2640249"/>
            <a:ext cx="274321" cy="1464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i="1" sz="11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Z̃′</a:t>
            </a:r>
          </a:p>
        </p:txBody>
      </p:sp>
      <p:sp>
        <p:nvSpPr>
          <p:cNvPr id="78" name="Shape 36"/>
          <p:cNvSpPr/>
          <p:nvPr/>
        </p:nvSpPr>
        <p:spPr>
          <a:xfrm>
            <a:off x="6357365" y="3001517"/>
            <a:ext cx="198883" cy="1"/>
          </a:xfrm>
          <a:prstGeom prst="line">
            <a:avLst/>
          </a:prstGeom>
          <a:ln w="22225">
            <a:solidFill>
              <a:srgbClr val="282828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79" name="Shape 37"/>
          <p:cNvSpPr/>
          <p:nvPr/>
        </p:nvSpPr>
        <p:spPr>
          <a:xfrm>
            <a:off x="7996428" y="3001517"/>
            <a:ext cx="233173" cy="1"/>
          </a:xfrm>
          <a:prstGeom prst="line">
            <a:avLst/>
          </a:prstGeom>
          <a:ln w="22225">
            <a:solidFill>
              <a:srgbClr val="282828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80" name="Text 38"/>
          <p:cNvSpPr txBox="1"/>
          <p:nvPr/>
        </p:nvSpPr>
        <p:spPr>
          <a:xfrm>
            <a:off x="8010143" y="2777409"/>
            <a:ext cx="205741" cy="1464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1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Δ</a:t>
            </a:r>
          </a:p>
        </p:txBody>
      </p:sp>
      <p:sp>
        <p:nvSpPr>
          <p:cNvPr id="81" name="Shape 39"/>
          <p:cNvSpPr/>
          <p:nvPr/>
        </p:nvSpPr>
        <p:spPr>
          <a:xfrm flipV="1">
            <a:off x="8373618" y="2583179"/>
            <a:ext cx="1" cy="274321"/>
          </a:xfrm>
          <a:prstGeom prst="line">
            <a:avLst/>
          </a:prstGeom>
          <a:ln w="22225">
            <a:solidFill>
              <a:srgbClr val="282828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82" name="Shape 40"/>
          <p:cNvSpPr/>
          <p:nvPr/>
        </p:nvSpPr>
        <p:spPr>
          <a:xfrm>
            <a:off x="6727697" y="2439161"/>
            <a:ext cx="1501903" cy="1"/>
          </a:xfrm>
          <a:prstGeom prst="line">
            <a:avLst/>
          </a:prstGeom>
          <a:ln w="22225">
            <a:solidFill>
              <a:srgbClr val="282828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83" name="Shape 41"/>
          <p:cNvSpPr/>
          <p:nvPr/>
        </p:nvSpPr>
        <p:spPr>
          <a:xfrm>
            <a:off x="8012430" y="857250"/>
            <a:ext cx="722377" cy="653796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pic>
        <p:nvPicPr>
          <p:cNvPr id="84" name="Image 4" descr="Image 4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8030718" y="875538"/>
            <a:ext cx="685801" cy="617221"/>
          </a:xfrm>
          <a:prstGeom prst="rect">
            <a:avLst/>
          </a:prstGeom>
          <a:ln w="12700">
            <a:miter lim="400000"/>
          </a:ln>
        </p:spPr>
      </p:pic>
      <p:sp>
        <p:nvSpPr>
          <p:cNvPr id="85" name="Text 42"/>
          <p:cNvSpPr txBox="1"/>
          <p:nvPr/>
        </p:nvSpPr>
        <p:spPr>
          <a:xfrm>
            <a:off x="7619238" y="651429"/>
            <a:ext cx="1508761" cy="1464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i="1" sz="11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Z′</a:t>
            </a:r>
            <a:r>
              <a:rPr i="0"/>
              <a:t> (stride </a:t>
            </a:r>
            <a:r>
              <a:t>ρ</a:t>
            </a:r>
            <a:r>
              <a:rPr i="0"/>
              <a:t>/2)</a:t>
            </a:r>
          </a:p>
        </p:txBody>
      </p:sp>
      <p:sp>
        <p:nvSpPr>
          <p:cNvPr id="86" name="Shape 43"/>
          <p:cNvSpPr/>
          <p:nvPr/>
        </p:nvSpPr>
        <p:spPr>
          <a:xfrm flipV="1">
            <a:off x="8373618" y="1492758"/>
            <a:ext cx="1" cy="802387"/>
          </a:xfrm>
          <a:prstGeom prst="line">
            <a:avLst/>
          </a:prstGeom>
          <a:ln w="22225">
            <a:solidFill>
              <a:srgbClr val="282828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87" name="Shape 44"/>
          <p:cNvSpPr/>
          <p:nvPr/>
        </p:nvSpPr>
        <p:spPr>
          <a:xfrm>
            <a:off x="9624059" y="857249"/>
            <a:ext cx="1408177" cy="11681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pic>
        <p:nvPicPr>
          <p:cNvPr id="88" name="Image 5" descr="Image 5"/>
          <p:cNvPicPr>
            <a:picLocks noChangeAspect="1"/>
          </p:cNvPicPr>
          <p:nvPr/>
        </p:nvPicPr>
        <p:blipFill>
          <a:blip r:embed="rId8">
            <a:extLst/>
          </a:blip>
          <a:stretch>
            <a:fillRect/>
          </a:stretch>
        </p:blipFill>
        <p:spPr>
          <a:xfrm>
            <a:off x="9642347" y="875538"/>
            <a:ext cx="1371601" cy="1131571"/>
          </a:xfrm>
          <a:prstGeom prst="rect">
            <a:avLst/>
          </a:prstGeom>
          <a:ln w="12700">
            <a:miter lim="400000"/>
          </a:ln>
        </p:spPr>
      </p:pic>
      <p:sp>
        <p:nvSpPr>
          <p:cNvPr id="89" name="Text 45"/>
          <p:cNvSpPr txBox="1"/>
          <p:nvPr/>
        </p:nvSpPr>
        <p:spPr>
          <a:xfrm>
            <a:off x="9230868" y="651429"/>
            <a:ext cx="2194561" cy="1464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sz="11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Prediction </a:t>
            </a:r>
            <a:r>
              <a:rPr i="1"/>
              <a:t>Ŷ</a:t>
            </a:r>
          </a:p>
        </p:txBody>
      </p:sp>
      <p:sp>
        <p:nvSpPr>
          <p:cNvPr id="90" name="Shape 46"/>
          <p:cNvSpPr/>
          <p:nvPr/>
        </p:nvSpPr>
        <p:spPr>
          <a:xfrm>
            <a:off x="9624059" y="2434589"/>
            <a:ext cx="1408177" cy="1168147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pic>
        <p:nvPicPr>
          <p:cNvPr id="91" name="Image 6" descr="Image 6"/>
          <p:cNvPicPr>
            <a:picLocks noChangeAspect="1"/>
          </p:cNvPicPr>
          <p:nvPr/>
        </p:nvPicPr>
        <p:blipFill>
          <a:blip r:embed="rId9">
            <a:extLst/>
          </a:blip>
          <a:stretch>
            <a:fillRect/>
          </a:stretch>
        </p:blipFill>
        <p:spPr>
          <a:xfrm>
            <a:off x="9642347" y="2452877"/>
            <a:ext cx="1371601" cy="1131571"/>
          </a:xfrm>
          <a:prstGeom prst="rect">
            <a:avLst/>
          </a:prstGeom>
          <a:ln w="12700">
            <a:miter lim="400000"/>
          </a:ln>
        </p:spPr>
      </p:pic>
      <p:sp>
        <p:nvSpPr>
          <p:cNvPr id="92" name="Text 47"/>
          <p:cNvSpPr txBox="1"/>
          <p:nvPr/>
        </p:nvSpPr>
        <p:spPr>
          <a:xfrm>
            <a:off x="9230868" y="2228769"/>
            <a:ext cx="2194561" cy="1464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sz="11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Ground truth </a:t>
            </a:r>
            <a:r>
              <a:rPr i="1"/>
              <a:t>Y</a:t>
            </a:r>
          </a:p>
        </p:txBody>
      </p:sp>
      <p:sp>
        <p:nvSpPr>
          <p:cNvPr id="93" name="Shape 48"/>
          <p:cNvSpPr/>
          <p:nvPr/>
        </p:nvSpPr>
        <p:spPr>
          <a:xfrm>
            <a:off x="8716518" y="1184147"/>
            <a:ext cx="925831" cy="1"/>
          </a:xfrm>
          <a:prstGeom prst="line">
            <a:avLst/>
          </a:prstGeom>
          <a:ln w="22225">
            <a:solidFill>
              <a:srgbClr val="9C7814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94" name="Text 49"/>
          <p:cNvSpPr txBox="1"/>
          <p:nvPr/>
        </p:nvSpPr>
        <p:spPr>
          <a:xfrm>
            <a:off x="8764523" y="945545"/>
            <a:ext cx="822961" cy="134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sz="1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up ×</a:t>
            </a:r>
            <a:r>
              <a:rPr i="1"/>
              <a:t>ρ</a:t>
            </a:r>
            <a:r>
              <a:t>/2</a:t>
            </a:r>
          </a:p>
        </p:txBody>
      </p:sp>
      <p:sp>
        <p:nvSpPr>
          <p:cNvPr id="95" name="Text 51"/>
          <p:cNvSpPr txBox="1"/>
          <p:nvPr/>
        </p:nvSpPr>
        <p:spPr>
          <a:xfrm>
            <a:off x="2304287" y="4039281"/>
            <a:ext cx="5623562" cy="1464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1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BPM (Sec. III-C)   </a:t>
            </a:r>
            <a:r>
              <a:rPr b="0" i="1"/>
              <a:t>training only; removed at inference</a:t>
            </a:r>
          </a:p>
        </p:txBody>
      </p:sp>
      <p:grpSp>
        <p:nvGrpSpPr>
          <p:cNvPr id="98" name="Text 52"/>
          <p:cNvGrpSpPr/>
          <p:nvPr/>
        </p:nvGrpSpPr>
        <p:grpSpPr>
          <a:xfrm>
            <a:off x="9402318" y="4400550"/>
            <a:ext cx="1303021" cy="425196"/>
            <a:chOff x="0" y="0"/>
            <a:chExt cx="1303019" cy="425195"/>
          </a:xfrm>
        </p:grpSpPr>
        <p:sp>
          <p:nvSpPr>
            <p:cNvPr id="96" name="Rectangle"/>
            <p:cNvSpPr/>
            <p:nvPr/>
          </p:nvSpPr>
          <p:spPr>
            <a:xfrm>
              <a:off x="0" y="0"/>
              <a:ext cx="1303020" cy="425196"/>
            </a:xfrm>
            <a:prstGeom prst="rect">
              <a:avLst/>
            </a:prstGeom>
            <a:solidFill>
              <a:srgbClr val="FFFFFF"/>
            </a:solidFill>
            <a:ln w="1587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100"/>
              </a:pPr>
            </a:p>
          </p:txBody>
        </p:sp>
        <p:sp>
          <p:nvSpPr>
            <p:cNvPr id="97" name="boundary set B…"/>
            <p:cNvSpPr txBox="1"/>
            <p:nvPr/>
          </p:nvSpPr>
          <p:spPr>
            <a:xfrm>
              <a:off x="7937" y="63165"/>
              <a:ext cx="1287146" cy="29886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/>
            <a:p>
              <a:pPr algn="ctr">
                <a:defRPr sz="1100"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  <a:r>
                <a:t>boundary set </a:t>
              </a:r>
              <a:r>
                <a:rPr i="1"/>
                <a:t>B</a:t>
              </a:r>
            </a:p>
            <a:p>
              <a:pPr algn="ctr">
                <a:defRPr sz="1100"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  <a:r>
                <a:t>(Eq. 8)</a:t>
              </a:r>
            </a:p>
          </p:txBody>
        </p:sp>
      </p:grpSp>
      <p:grpSp>
        <p:nvGrpSpPr>
          <p:cNvPr id="101" name="Text 53"/>
          <p:cNvGrpSpPr/>
          <p:nvPr/>
        </p:nvGrpSpPr>
        <p:grpSpPr>
          <a:xfrm>
            <a:off x="7859268" y="4400550"/>
            <a:ext cx="1303021" cy="425196"/>
            <a:chOff x="0" y="0"/>
            <a:chExt cx="1303019" cy="425195"/>
          </a:xfrm>
        </p:grpSpPr>
        <p:sp>
          <p:nvSpPr>
            <p:cNvPr id="99" name="Rectangle"/>
            <p:cNvSpPr/>
            <p:nvPr/>
          </p:nvSpPr>
          <p:spPr>
            <a:xfrm>
              <a:off x="0" y="0"/>
              <a:ext cx="1303020" cy="425196"/>
            </a:xfrm>
            <a:prstGeom prst="rect">
              <a:avLst/>
            </a:prstGeom>
            <a:solidFill>
              <a:srgbClr val="FFFFFF"/>
            </a:solidFill>
            <a:ln w="1587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100"/>
              </a:pPr>
            </a:p>
          </p:txBody>
        </p:sp>
        <p:sp>
          <p:nvSpPr>
            <p:cNvPr id="100" name="dilate to Br…"/>
            <p:cNvSpPr txBox="1"/>
            <p:nvPr/>
          </p:nvSpPr>
          <p:spPr>
            <a:xfrm>
              <a:off x="7937" y="39416"/>
              <a:ext cx="1287146" cy="34636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/>
            <a:p>
              <a:pPr algn="ctr">
                <a:defRPr sz="1100"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  <a:r>
                <a:t>dilate to </a:t>
              </a:r>
              <a:r>
                <a:rPr i="1"/>
                <a:t>B</a:t>
              </a:r>
              <a:r>
                <a:rPr baseline="-40000" i="1"/>
                <a:t>r</a:t>
              </a:r>
            </a:p>
            <a:p>
              <a:pPr algn="ctr">
                <a:defRPr sz="1100"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  <a:r>
                <a:t>max-pool 2</a:t>
              </a:r>
              <a:r>
                <a:rPr i="1"/>
                <a:t>r</a:t>
              </a:r>
              <a:r>
                <a:t>+1</a:t>
              </a:r>
            </a:p>
          </p:txBody>
        </p:sp>
      </p:grpSp>
      <p:sp>
        <p:nvSpPr>
          <p:cNvPr id="102" name="Shape 54"/>
          <p:cNvSpPr/>
          <p:nvPr/>
        </p:nvSpPr>
        <p:spPr>
          <a:xfrm>
            <a:off x="6949440" y="4320540"/>
            <a:ext cx="722377" cy="585217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pic>
        <p:nvPicPr>
          <p:cNvPr id="103" name="Image 7" descr="Image 7"/>
          <p:cNvPicPr>
            <a:picLocks noChangeAspect="1"/>
          </p:cNvPicPr>
          <p:nvPr/>
        </p:nvPicPr>
        <p:blipFill>
          <a:blip r:embed="rId10">
            <a:extLst/>
          </a:blip>
          <a:stretch>
            <a:fillRect/>
          </a:stretch>
        </p:blipFill>
        <p:spPr>
          <a:xfrm>
            <a:off x="6967728" y="4338828"/>
            <a:ext cx="685801" cy="548641"/>
          </a:xfrm>
          <a:prstGeom prst="rect">
            <a:avLst/>
          </a:prstGeom>
          <a:ln w="12700">
            <a:miter lim="400000"/>
          </a:ln>
        </p:spPr>
      </p:pic>
      <p:sp>
        <p:nvSpPr>
          <p:cNvPr id="104" name="Text 55"/>
          <p:cNvSpPr txBox="1"/>
          <p:nvPr/>
        </p:nvSpPr>
        <p:spPr>
          <a:xfrm>
            <a:off x="6556247" y="4114719"/>
            <a:ext cx="1508761" cy="1464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i="1" sz="11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w</a:t>
            </a:r>
            <a:r>
              <a:rPr i="0"/>
              <a:t> (Eq. 9)</a:t>
            </a:r>
          </a:p>
        </p:txBody>
      </p:sp>
      <p:grpSp>
        <p:nvGrpSpPr>
          <p:cNvPr id="107" name="Text 56"/>
          <p:cNvGrpSpPr/>
          <p:nvPr/>
        </p:nvGrpSpPr>
        <p:grpSpPr>
          <a:xfrm>
            <a:off x="10259568" y="5429250"/>
            <a:ext cx="1097281" cy="425196"/>
            <a:chOff x="0" y="0"/>
            <a:chExt cx="1097280" cy="425195"/>
          </a:xfrm>
        </p:grpSpPr>
        <p:sp>
          <p:nvSpPr>
            <p:cNvPr id="105" name="Rectangle"/>
            <p:cNvSpPr/>
            <p:nvPr/>
          </p:nvSpPr>
          <p:spPr>
            <a:xfrm>
              <a:off x="-1" y="0"/>
              <a:ext cx="1097282" cy="425196"/>
            </a:xfrm>
            <a:prstGeom prst="rect">
              <a:avLst/>
            </a:prstGeom>
            <a:solidFill>
              <a:srgbClr val="FFFFFF"/>
            </a:solidFill>
            <a:ln w="1587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100"/>
              </a:pPr>
            </a:p>
          </p:txBody>
        </p:sp>
        <p:sp>
          <p:nvSpPr>
            <p:cNvPr id="106" name="cross-entropy…"/>
            <p:cNvSpPr txBox="1"/>
            <p:nvPr/>
          </p:nvSpPr>
          <p:spPr>
            <a:xfrm>
              <a:off x="7937" y="63165"/>
              <a:ext cx="1081406" cy="29886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/>
            <a:p>
              <a:pPr algn="ctr">
                <a:defRPr sz="1100"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  <a:r>
                <a:t>cross-entropy</a:t>
              </a:r>
            </a:p>
            <a:p>
              <a:pPr algn="ctr">
                <a:defRPr sz="1100"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  <a:r>
                <a:t>per pixel</a:t>
              </a:r>
            </a:p>
          </p:txBody>
        </p:sp>
      </p:grpSp>
      <p:sp>
        <p:nvSpPr>
          <p:cNvPr id="108" name="Shape 57"/>
          <p:cNvSpPr/>
          <p:nvPr/>
        </p:nvSpPr>
        <p:spPr>
          <a:xfrm>
            <a:off x="6949440" y="5349240"/>
            <a:ext cx="722377" cy="585217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pic>
        <p:nvPicPr>
          <p:cNvPr id="109" name="Image 8" descr="Image 8"/>
          <p:cNvPicPr>
            <a:picLocks noChangeAspect="1"/>
          </p:cNvPicPr>
          <p:nvPr/>
        </p:nvPicPr>
        <p:blipFill>
          <a:blip r:embed="rId11">
            <a:extLst/>
          </a:blip>
          <a:stretch>
            <a:fillRect/>
          </a:stretch>
        </p:blipFill>
        <p:spPr>
          <a:xfrm>
            <a:off x="6967728" y="5367528"/>
            <a:ext cx="685801" cy="548641"/>
          </a:xfrm>
          <a:prstGeom prst="rect">
            <a:avLst/>
          </a:prstGeom>
          <a:ln w="12700">
            <a:miter lim="400000"/>
          </a:ln>
        </p:spPr>
      </p:pic>
      <p:sp>
        <p:nvSpPr>
          <p:cNvPr id="110" name="Text 58"/>
          <p:cNvSpPr txBox="1"/>
          <p:nvPr/>
        </p:nvSpPr>
        <p:spPr>
          <a:xfrm>
            <a:off x="6556247" y="5970062"/>
            <a:ext cx="1508761" cy="1939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i="1" sz="11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ℓ</a:t>
            </a:r>
            <a:r>
              <a:rPr baseline="-40000"/>
              <a:t>i</a:t>
            </a:r>
          </a:p>
        </p:txBody>
      </p:sp>
      <p:grpSp>
        <p:nvGrpSpPr>
          <p:cNvPr id="113" name="Text 59"/>
          <p:cNvGrpSpPr/>
          <p:nvPr/>
        </p:nvGrpSpPr>
        <p:grpSpPr>
          <a:xfrm>
            <a:off x="6240779" y="4914899"/>
            <a:ext cx="288037" cy="288038"/>
            <a:chOff x="0" y="0"/>
            <a:chExt cx="288036" cy="288036"/>
          </a:xfrm>
        </p:grpSpPr>
        <p:sp>
          <p:nvSpPr>
            <p:cNvPr id="111" name="Circle"/>
            <p:cNvSpPr/>
            <p:nvPr/>
          </p:nvSpPr>
          <p:spPr>
            <a:xfrm>
              <a:off x="-1" y="-1"/>
              <a:ext cx="288038" cy="288038"/>
            </a:xfrm>
            <a:prstGeom prst="ellipse">
              <a:avLst/>
            </a:prstGeom>
            <a:solidFill>
              <a:srgbClr val="FFFFFF"/>
            </a:solidFill>
            <a:ln w="1587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200"/>
              </a:pPr>
            </a:p>
          </p:txBody>
        </p:sp>
        <p:sp>
          <p:nvSpPr>
            <p:cNvPr id="112" name="×"/>
            <p:cNvSpPr txBox="1"/>
            <p:nvPr/>
          </p:nvSpPr>
          <p:spPr>
            <a:xfrm>
              <a:off x="50119" y="52005"/>
              <a:ext cx="187798" cy="18402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sz="1200">
                  <a:latin typeface="Times New Roman"/>
                  <a:ea typeface="Times New Roman"/>
                  <a:cs typeface="Times New Roman"/>
                  <a:sym typeface="Times New Roman"/>
                </a:defRPr>
              </a:lvl1pPr>
            </a:lstStyle>
            <a:p>
              <a:pPr/>
              <a:r>
                <a:t>×</a:t>
              </a:r>
            </a:p>
          </p:txBody>
        </p:sp>
      </p:grpSp>
      <p:grpSp>
        <p:nvGrpSpPr>
          <p:cNvPr id="116" name="Text 60"/>
          <p:cNvGrpSpPr/>
          <p:nvPr/>
        </p:nvGrpSpPr>
        <p:grpSpPr>
          <a:xfrm>
            <a:off x="3950208" y="4846320"/>
            <a:ext cx="1851661" cy="425197"/>
            <a:chOff x="0" y="0"/>
            <a:chExt cx="1851660" cy="425195"/>
          </a:xfrm>
        </p:grpSpPr>
        <p:sp>
          <p:nvSpPr>
            <p:cNvPr id="114" name="Rectangle"/>
            <p:cNvSpPr/>
            <p:nvPr/>
          </p:nvSpPr>
          <p:spPr>
            <a:xfrm>
              <a:off x="-1" y="0"/>
              <a:ext cx="1851662" cy="425196"/>
            </a:xfrm>
            <a:prstGeom prst="rect">
              <a:avLst/>
            </a:prstGeom>
            <a:solidFill>
              <a:srgbClr val="FFFFFF"/>
            </a:solidFill>
            <a:ln w="1587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100"/>
              </a:pPr>
            </a:p>
          </p:txBody>
        </p:sp>
        <p:sp>
          <p:nvSpPr>
            <p:cNvPr id="115" name="OHEM select…"/>
            <p:cNvSpPr txBox="1"/>
            <p:nvPr/>
          </p:nvSpPr>
          <p:spPr>
            <a:xfrm>
              <a:off x="7937" y="39416"/>
              <a:ext cx="1835786" cy="34636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/>
            <a:p>
              <a:pPr algn="ctr">
                <a:defRPr sz="1100"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  <a:r>
                <a:t>OHEM select</a:t>
              </a:r>
            </a:p>
            <a:p>
              <a:pPr algn="ctr">
                <a:defRPr i="1" sz="1100"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  <a:r>
                <a:t>S</a:t>
              </a:r>
              <a:r>
                <a:rPr baseline="-40000"/>
                <a:t>w</a:t>
              </a:r>
              <a:r>
                <a:rPr i="0"/>
                <a:t> = sel({</a:t>
              </a:r>
              <a:r>
                <a:t>w</a:t>
              </a:r>
              <a:r>
                <a:rPr baseline="-40000"/>
                <a:t>i</a:t>
              </a:r>
              <a:r>
                <a:t>ℓ</a:t>
              </a:r>
              <a:r>
                <a:rPr baseline="-40000"/>
                <a:t>i</a:t>
              </a:r>
              <a:r>
                <a:rPr i="0"/>
                <a:t>}; </a:t>
              </a:r>
              <a:r>
                <a:t>τ</a:t>
              </a:r>
              <a:r>
                <a:rPr i="0"/>
                <a:t>, </a:t>
              </a:r>
              <a:r>
                <a:t>n</a:t>
              </a:r>
              <a:r>
                <a:rPr baseline="-40000" i="0"/>
                <a:t>min</a:t>
              </a:r>
              <a:r>
                <a:rPr i="0"/>
                <a:t>)</a:t>
              </a:r>
            </a:p>
          </p:txBody>
        </p:sp>
      </p:grpSp>
      <p:grpSp>
        <p:nvGrpSpPr>
          <p:cNvPr id="119" name="Text 61"/>
          <p:cNvGrpSpPr/>
          <p:nvPr/>
        </p:nvGrpSpPr>
        <p:grpSpPr>
          <a:xfrm>
            <a:off x="2612898" y="4845747"/>
            <a:ext cx="822961" cy="426343"/>
            <a:chOff x="0" y="0"/>
            <a:chExt cx="822960" cy="426341"/>
          </a:xfrm>
        </p:grpSpPr>
        <p:sp>
          <p:nvSpPr>
            <p:cNvPr id="117" name="Rectangle"/>
            <p:cNvSpPr/>
            <p:nvPr/>
          </p:nvSpPr>
          <p:spPr>
            <a:xfrm>
              <a:off x="0" y="572"/>
              <a:ext cx="822961" cy="425197"/>
            </a:xfrm>
            <a:prstGeom prst="rect">
              <a:avLst/>
            </a:prstGeom>
            <a:solidFill>
              <a:srgbClr val="FFFFFF"/>
            </a:solidFill>
            <a:ln w="28575" cap="flat">
              <a:solidFill>
                <a:srgbClr val="821E2D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200"/>
              </a:pPr>
            </a:p>
          </p:txBody>
        </p:sp>
        <p:sp>
          <p:nvSpPr>
            <p:cNvPr id="118" name="LBPM…"/>
            <p:cNvSpPr txBox="1"/>
            <p:nvPr/>
          </p:nvSpPr>
          <p:spPr>
            <a:xfrm>
              <a:off x="14287" y="0"/>
              <a:ext cx="794386" cy="42634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/>
            <a:p>
              <a:pPr algn="ctr">
                <a:defRPr i="1" sz="1200"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  <a:r>
                <a:t>L</a:t>
              </a:r>
              <a:r>
                <a:rPr baseline="-40000" i="0"/>
                <a:t>BPM</a:t>
              </a:r>
            </a:p>
            <a:p>
              <a:pPr algn="ctr">
                <a:defRPr sz="1200"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  <a:r>
                <a:t>(Eq. 10)</a:t>
              </a:r>
            </a:p>
          </p:txBody>
        </p:sp>
      </p:grpSp>
      <p:sp>
        <p:nvSpPr>
          <p:cNvPr id="120" name="Shape 62"/>
          <p:cNvSpPr/>
          <p:nvPr/>
        </p:nvSpPr>
        <p:spPr>
          <a:xfrm>
            <a:off x="10053828" y="3584447"/>
            <a:ext cx="1" cy="816103"/>
          </a:xfrm>
          <a:prstGeom prst="line">
            <a:avLst/>
          </a:prstGeom>
          <a:ln w="22225">
            <a:solidFill>
              <a:srgbClr val="1E5F78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121" name="Shape 63"/>
          <p:cNvSpPr/>
          <p:nvPr/>
        </p:nvSpPr>
        <p:spPr>
          <a:xfrm flipH="1">
            <a:off x="9162288" y="4613147"/>
            <a:ext cx="240031" cy="1"/>
          </a:xfrm>
          <a:prstGeom prst="line">
            <a:avLst/>
          </a:prstGeom>
          <a:ln w="22225">
            <a:solidFill>
              <a:srgbClr val="1E5F78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122" name="Shape 64"/>
          <p:cNvSpPr/>
          <p:nvPr/>
        </p:nvSpPr>
        <p:spPr>
          <a:xfrm flipH="1">
            <a:off x="7653528" y="4613147"/>
            <a:ext cx="205741" cy="1"/>
          </a:xfrm>
          <a:prstGeom prst="line">
            <a:avLst/>
          </a:prstGeom>
          <a:ln w="22225">
            <a:solidFill>
              <a:srgbClr val="1E5F78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123" name="Shape 65"/>
          <p:cNvSpPr/>
          <p:nvPr/>
        </p:nvSpPr>
        <p:spPr>
          <a:xfrm>
            <a:off x="10808207" y="3584447"/>
            <a:ext cx="1" cy="1844802"/>
          </a:xfrm>
          <a:prstGeom prst="line">
            <a:avLst/>
          </a:prstGeom>
          <a:ln w="22225">
            <a:solidFill>
              <a:srgbClr val="1E5F78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124" name="Shape 66"/>
          <p:cNvSpPr/>
          <p:nvPr/>
        </p:nvSpPr>
        <p:spPr>
          <a:xfrm>
            <a:off x="11013947" y="1441322"/>
            <a:ext cx="480061" cy="1"/>
          </a:xfrm>
          <a:prstGeom prst="line">
            <a:avLst/>
          </a:prstGeom>
          <a:ln w="22225">
            <a:solidFill>
              <a:srgbClr val="9C781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5" name="Shape 67"/>
          <p:cNvSpPr/>
          <p:nvPr/>
        </p:nvSpPr>
        <p:spPr>
          <a:xfrm flipH="1">
            <a:off x="11494007" y="1441322"/>
            <a:ext cx="1" cy="4200527"/>
          </a:xfrm>
          <a:prstGeom prst="line">
            <a:avLst/>
          </a:prstGeom>
          <a:ln w="22225">
            <a:solidFill>
              <a:srgbClr val="9C781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6" name="Shape 68"/>
          <p:cNvSpPr/>
          <p:nvPr/>
        </p:nvSpPr>
        <p:spPr>
          <a:xfrm flipH="1">
            <a:off x="11356847" y="5641847"/>
            <a:ext cx="137161" cy="1"/>
          </a:xfrm>
          <a:prstGeom prst="line">
            <a:avLst/>
          </a:prstGeom>
          <a:ln w="22225">
            <a:solidFill>
              <a:srgbClr val="9C7814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127" name="Shape 69"/>
          <p:cNvSpPr/>
          <p:nvPr/>
        </p:nvSpPr>
        <p:spPr>
          <a:xfrm flipH="1">
            <a:off x="7653528" y="5641847"/>
            <a:ext cx="2606041" cy="1"/>
          </a:xfrm>
          <a:prstGeom prst="line">
            <a:avLst/>
          </a:prstGeom>
          <a:ln w="22225">
            <a:solidFill>
              <a:srgbClr val="821E2D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128" name="Shape 70"/>
          <p:cNvSpPr/>
          <p:nvPr/>
        </p:nvSpPr>
        <p:spPr>
          <a:xfrm flipH="1">
            <a:off x="6384797" y="4613147"/>
            <a:ext cx="582931" cy="1"/>
          </a:xfrm>
          <a:prstGeom prst="line">
            <a:avLst/>
          </a:prstGeom>
          <a:ln w="22225">
            <a:solidFill>
              <a:srgbClr val="821E2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9" name="Shape 71"/>
          <p:cNvSpPr/>
          <p:nvPr/>
        </p:nvSpPr>
        <p:spPr>
          <a:xfrm>
            <a:off x="6384797" y="4613147"/>
            <a:ext cx="1" cy="301753"/>
          </a:xfrm>
          <a:prstGeom prst="line">
            <a:avLst/>
          </a:prstGeom>
          <a:ln w="22225">
            <a:solidFill>
              <a:srgbClr val="821E2D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130" name="Shape 72"/>
          <p:cNvSpPr/>
          <p:nvPr/>
        </p:nvSpPr>
        <p:spPr>
          <a:xfrm flipH="1">
            <a:off x="6384797" y="5641847"/>
            <a:ext cx="582931" cy="1"/>
          </a:xfrm>
          <a:prstGeom prst="line">
            <a:avLst/>
          </a:prstGeom>
          <a:ln w="22225">
            <a:solidFill>
              <a:srgbClr val="821E2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31" name="Shape 73"/>
          <p:cNvSpPr/>
          <p:nvPr/>
        </p:nvSpPr>
        <p:spPr>
          <a:xfrm flipV="1">
            <a:off x="6384797" y="5202935"/>
            <a:ext cx="1" cy="438913"/>
          </a:xfrm>
          <a:prstGeom prst="line">
            <a:avLst/>
          </a:prstGeom>
          <a:ln w="22225">
            <a:solidFill>
              <a:srgbClr val="821E2D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132" name="Shape 74"/>
          <p:cNvSpPr/>
          <p:nvPr/>
        </p:nvSpPr>
        <p:spPr>
          <a:xfrm flipH="1">
            <a:off x="5801867" y="5058917"/>
            <a:ext cx="438913" cy="1"/>
          </a:xfrm>
          <a:prstGeom prst="line">
            <a:avLst/>
          </a:prstGeom>
          <a:ln w="22225">
            <a:solidFill>
              <a:srgbClr val="821E2D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133" name="Text 75"/>
          <p:cNvSpPr txBox="1"/>
          <p:nvPr/>
        </p:nvSpPr>
        <p:spPr>
          <a:xfrm>
            <a:off x="5801867" y="4819299"/>
            <a:ext cx="411481" cy="1774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i="1" sz="1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w</a:t>
            </a:r>
            <a:r>
              <a:rPr baseline="-40000"/>
              <a:t>i</a:t>
            </a:r>
            <a:r>
              <a:t>ℓ</a:t>
            </a:r>
            <a:r>
              <a:rPr baseline="-40000"/>
              <a:t>i</a:t>
            </a:r>
          </a:p>
        </p:txBody>
      </p:sp>
      <p:sp>
        <p:nvSpPr>
          <p:cNvPr id="134" name="Shape 76"/>
          <p:cNvSpPr/>
          <p:nvPr/>
        </p:nvSpPr>
        <p:spPr>
          <a:xfrm flipH="1">
            <a:off x="3435858" y="5058917"/>
            <a:ext cx="514351" cy="1"/>
          </a:xfrm>
          <a:prstGeom prst="line">
            <a:avLst/>
          </a:prstGeom>
          <a:ln w="22225">
            <a:solidFill>
              <a:srgbClr val="821E2D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135" name="Shape 77"/>
          <p:cNvSpPr/>
          <p:nvPr/>
        </p:nvSpPr>
        <p:spPr>
          <a:xfrm>
            <a:off x="2304288" y="6464808"/>
            <a:ext cx="411481" cy="1"/>
          </a:xfrm>
          <a:prstGeom prst="line">
            <a:avLst/>
          </a:prstGeom>
          <a:ln w="22225">
            <a:solidFill>
              <a:srgbClr val="282828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136" name="Text 78"/>
          <p:cNvSpPr txBox="1"/>
          <p:nvPr/>
        </p:nvSpPr>
        <p:spPr>
          <a:xfrm>
            <a:off x="2784348" y="6391575"/>
            <a:ext cx="2011680" cy="1464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forward pass</a:t>
            </a:r>
          </a:p>
        </p:txBody>
      </p:sp>
      <p:sp>
        <p:nvSpPr>
          <p:cNvPr id="137" name="Shape 79"/>
          <p:cNvSpPr/>
          <p:nvPr/>
        </p:nvSpPr>
        <p:spPr>
          <a:xfrm>
            <a:off x="4224528" y="6464808"/>
            <a:ext cx="411481" cy="1"/>
          </a:xfrm>
          <a:prstGeom prst="line">
            <a:avLst/>
          </a:prstGeom>
          <a:ln w="22225">
            <a:solidFill>
              <a:srgbClr val="9C7814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138" name="Text 80"/>
          <p:cNvSpPr txBox="1"/>
          <p:nvPr/>
        </p:nvSpPr>
        <p:spPr>
          <a:xfrm>
            <a:off x="4704588" y="6391575"/>
            <a:ext cx="2011680" cy="1464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image / prediction</a:t>
            </a:r>
          </a:p>
        </p:txBody>
      </p:sp>
      <p:sp>
        <p:nvSpPr>
          <p:cNvPr id="139" name="Shape 81"/>
          <p:cNvSpPr/>
          <p:nvPr/>
        </p:nvSpPr>
        <p:spPr>
          <a:xfrm>
            <a:off x="6487667" y="6464808"/>
            <a:ext cx="411481" cy="1"/>
          </a:xfrm>
          <a:prstGeom prst="line">
            <a:avLst/>
          </a:prstGeom>
          <a:ln w="22225">
            <a:solidFill>
              <a:srgbClr val="1E5F78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140" name="Text 82"/>
          <p:cNvSpPr txBox="1"/>
          <p:nvPr/>
        </p:nvSpPr>
        <p:spPr>
          <a:xfrm>
            <a:off x="6967728" y="6391575"/>
            <a:ext cx="2011680" cy="1464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ground truth</a:t>
            </a:r>
          </a:p>
        </p:txBody>
      </p:sp>
      <p:sp>
        <p:nvSpPr>
          <p:cNvPr id="141" name="Shape 83"/>
          <p:cNvSpPr/>
          <p:nvPr/>
        </p:nvSpPr>
        <p:spPr>
          <a:xfrm>
            <a:off x="8339328" y="6464808"/>
            <a:ext cx="411481" cy="1"/>
          </a:xfrm>
          <a:prstGeom prst="line">
            <a:avLst/>
          </a:prstGeom>
          <a:ln w="22225">
            <a:solidFill>
              <a:srgbClr val="821E2D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142" name="Text 84"/>
          <p:cNvSpPr txBox="1"/>
          <p:nvPr/>
        </p:nvSpPr>
        <p:spPr>
          <a:xfrm>
            <a:off x="8819388" y="6391575"/>
            <a:ext cx="2011680" cy="1464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loss (training only)</a:t>
            </a:r>
          </a:p>
        </p:txBody>
      </p:sp>
      <p:sp>
        <p:nvSpPr>
          <p:cNvPr id="143" name="Shape 2"/>
          <p:cNvSpPr/>
          <p:nvPr/>
        </p:nvSpPr>
        <p:spPr>
          <a:xfrm>
            <a:off x="350239" y="4414535"/>
            <a:ext cx="1613917" cy="1476757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pic>
        <p:nvPicPr>
          <p:cNvPr id="144" name="Image 0" descr="Image 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68527" y="4432823"/>
            <a:ext cx="1577341" cy="1440181"/>
          </a:xfrm>
          <a:prstGeom prst="rect">
            <a:avLst/>
          </a:prstGeom>
          <a:ln w="12700">
            <a:miter lim="400000"/>
          </a:ln>
        </p:spPr>
      </p:pic>
      <p:sp>
        <p:nvSpPr>
          <p:cNvPr id="145" name="Text 3"/>
          <p:cNvSpPr txBox="1"/>
          <p:nvPr/>
        </p:nvSpPr>
        <p:spPr>
          <a:xfrm>
            <a:off x="-120692" y="4214454"/>
            <a:ext cx="2400301" cy="1464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sz="11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Output image </a:t>
            </a:r>
            <a:r>
              <a:rPr i="1"/>
              <a:t>I</a:t>
            </a:r>
          </a:p>
        </p:txBody>
      </p:sp>
      <p:sp>
        <p:nvSpPr>
          <p:cNvPr id="146" name="Shape 5"/>
          <p:cNvSpPr/>
          <p:nvPr/>
        </p:nvSpPr>
        <p:spPr>
          <a:xfrm flipH="1">
            <a:off x="1975138" y="5062851"/>
            <a:ext cx="633127" cy="1"/>
          </a:xfrm>
          <a:prstGeom prst="line">
            <a:avLst/>
          </a:prstGeom>
          <a:ln w="22225">
            <a:solidFill>
              <a:srgbClr val="9C7814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